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91" r:id="rId3"/>
    <p:sldId id="353" r:id="rId4"/>
    <p:sldId id="360" r:id="rId5"/>
    <p:sldId id="363" r:id="rId6"/>
    <p:sldId id="365" r:id="rId7"/>
    <p:sldId id="355" r:id="rId8"/>
    <p:sldId id="356" r:id="rId9"/>
    <p:sldId id="357" r:id="rId10"/>
    <p:sldId id="361" r:id="rId11"/>
    <p:sldId id="366" r:id="rId12"/>
    <p:sldId id="370" r:id="rId13"/>
    <p:sldId id="368" r:id="rId14"/>
    <p:sldId id="369" r:id="rId15"/>
    <p:sldId id="362" r:id="rId16"/>
    <p:sldId id="372" r:id="rId17"/>
    <p:sldId id="358" r:id="rId18"/>
    <p:sldId id="359" r:id="rId19"/>
    <p:sldId id="371" r:id="rId20"/>
    <p:sldId id="364" r:id="rId21"/>
    <p:sldId id="367" r:id="rId22"/>
  </p:sldIdLst>
  <p:sldSz cx="9144000" cy="5143500" type="screen16x9"/>
  <p:notesSz cx="6858000" cy="9144000"/>
  <p:embeddedFontLst>
    <p:embeddedFont>
      <p:font typeface="Abadi Extra Light" panose="020B0204020104020204" pitchFamily="34" charset="0"/>
      <p:regular r:id="rId24"/>
    </p:embeddedFont>
    <p:embeddedFont>
      <p:font typeface="Nunito Light" pitchFamily="2" charset="0"/>
      <p:regular r:id="rId25"/>
      <p:italic r:id="rId26"/>
    </p:embeddedFont>
    <p:embeddedFont>
      <p:font typeface="Quantico" panose="020B0604020202020204" charset="0"/>
      <p:regular r:id="rId27"/>
      <p:bold r:id="rId28"/>
      <p:italic r:id="rId29"/>
      <p:boldItalic r:id="rId30"/>
    </p:embeddedFont>
    <p:embeddedFont>
      <p:font typeface="Source Code Pro" panose="020B0509030403020204" pitchFamily="49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AAB872-B5AD-4303-86AE-79943BA93F65}">
  <a:tblStyle styleId="{B7AAB872-B5AD-4303-86AE-79943BA93F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1539" autoAdjust="0"/>
  </p:normalViewPr>
  <p:slideViewPr>
    <p:cSldViewPr snapToGrid="0">
      <p:cViewPr varScale="1">
        <p:scale>
          <a:sx n="138" d="100"/>
          <a:sy n="138" d="100"/>
        </p:scale>
        <p:origin x="8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0f7af2584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0f7af2584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967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9897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3336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9947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2077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911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2968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528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797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1377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4446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029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373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0015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730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5204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896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7160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4171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2267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00" y="0"/>
            <a:ext cx="91440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062200" y="1289175"/>
            <a:ext cx="5019600" cy="18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186988" y="1906688"/>
            <a:ext cx="3943500" cy="11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5731913" y="1906688"/>
            <a:ext cx="2225100" cy="11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809700"/>
            <a:ext cx="7704000" cy="2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5" name="Google Shape;25;p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807625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4922022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807630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4922022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37" name="Google Shape;37;p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44" name="Google Shape;44;p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0" name="Google Shape;50;p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7" name="Google Shape;57;p1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1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 hasCustomPrompt="1"/>
          </p:nvPr>
        </p:nvSpPr>
        <p:spPr>
          <a:xfrm>
            <a:off x="3030250" y="1291525"/>
            <a:ext cx="4711500" cy="11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>
            <a:spLocks noGrp="1"/>
          </p:cNvSpPr>
          <p:nvPr>
            <p:ph type="subTitle" idx="1"/>
          </p:nvPr>
        </p:nvSpPr>
        <p:spPr>
          <a:xfrm>
            <a:off x="4173275" y="3581850"/>
            <a:ext cx="3169800" cy="6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4" name="Google Shape;64;p1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gif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ired.team/offensive-security/defense-evasion/commandline-obfusaction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soroush.me/blog/2019/05/x-up-devcap-post-charset-header-in-aspnet-to-bypass-wafs-again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osandamalith.com/2019/10/12/bypassing-the-webarx-web-application-firewall-waf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devploit/nomore403" TargetMode="External"/><Relationship Id="rId5" Type="http://schemas.openxmlformats.org/officeDocument/2006/relationships/hyperlink" Target="https://github.com/lobuhi/byp4xx" TargetMode="External"/><Relationship Id="rId4" Type="http://schemas.openxmlformats.org/officeDocument/2006/relationships/hyperlink" Target="https://scrapfly.io/web-scraping-tools/ja3-fingerprin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fastly.com/en/ngwaf/agent-config#agentcfg_revproxy-listener_inspect-websocket" TargetMode="External"/><Relationship Id="rId5" Type="http://schemas.openxmlformats.org/officeDocument/2006/relationships/hyperlink" Target="https://community.sophos.com/sophos-xg-firewall/f/discussions/132910/pass-a-websocket-connection-through-waf" TargetMode="External"/><Relationship Id="rId4" Type="http://schemas.openxmlformats.org/officeDocument/2006/relationships/hyperlink" Target="https://www.hoyahaxa.com/2024/03/imperva-waf-bypass-cve-2023-50969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notsoshant.io/blog/bypassing-waf-by-playing-with-parameters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hyperlink" Target="https://github.com/search?q=ip%20rotation&amp;type=repositorie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5"/>
          <p:cNvGrpSpPr/>
          <p:nvPr/>
        </p:nvGrpSpPr>
        <p:grpSpPr>
          <a:xfrm>
            <a:off x="1282950" y="650425"/>
            <a:ext cx="6578100" cy="3438300"/>
            <a:chOff x="772525" y="726625"/>
            <a:chExt cx="6578100" cy="3438300"/>
          </a:xfrm>
        </p:grpSpPr>
        <p:sp>
          <p:nvSpPr>
            <p:cNvPr id="77" name="Google Shape;77;p15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" name="Google Shape;82;p15"/>
          <p:cNvSpPr txBox="1"/>
          <p:nvPr/>
        </p:nvSpPr>
        <p:spPr>
          <a:xfrm>
            <a:off x="1414871" y="1639888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&lt;/</a:t>
            </a:r>
            <a:endParaRPr sz="3600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7020763" y="249327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5"/>
          <p:cNvSpPr txBox="1">
            <a:spLocks noGrp="1"/>
          </p:cNvSpPr>
          <p:nvPr>
            <p:ph type="ctrTitle"/>
          </p:nvPr>
        </p:nvSpPr>
        <p:spPr>
          <a:xfrm>
            <a:off x="2062200" y="1289175"/>
            <a:ext cx="5019600" cy="18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br>
              <a:rPr lang="es-ES" dirty="0"/>
            </a:br>
            <a:br>
              <a:rPr lang="es-ES" dirty="0"/>
            </a:br>
            <a:r>
              <a:rPr lang="es-ES" dirty="0"/>
              <a:t>WAF bypass: técnicas, tácticas y truquitos</a:t>
            </a:r>
            <a:endParaRPr lang="en" dirty="0"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endParaRPr lang="es-ES" dirty="0"/>
          </a:p>
        </p:txBody>
      </p:sp>
      <p:grpSp>
        <p:nvGrpSpPr>
          <p:cNvPr id="86" name="Google Shape;86;p15"/>
          <p:cNvGrpSpPr/>
          <p:nvPr/>
        </p:nvGrpSpPr>
        <p:grpSpPr>
          <a:xfrm>
            <a:off x="488525" y="3098476"/>
            <a:ext cx="1864800" cy="718498"/>
            <a:chOff x="488525" y="3093501"/>
            <a:chExt cx="1864800" cy="718498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488525" y="3093501"/>
              <a:ext cx="1864800" cy="718498"/>
              <a:chOff x="488525" y="3093501"/>
              <a:chExt cx="1864800" cy="718498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488525" y="3348799"/>
                <a:ext cx="1864800" cy="463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488525" y="3093501"/>
                <a:ext cx="1864800" cy="255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693113" y="3432625"/>
              <a:ext cx="1455642" cy="295547"/>
              <a:chOff x="704072" y="2828928"/>
              <a:chExt cx="1455642" cy="295547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704072" y="2828928"/>
                <a:ext cx="295547" cy="295547"/>
              </a:xfrm>
              <a:custGeom>
                <a:avLst/>
                <a:gdLst/>
                <a:ahLst/>
                <a:cxnLst/>
                <a:rect l="l" t="t" r="r" b="b"/>
                <a:pathLst>
                  <a:path w="3170" h="3170" extrusionOk="0">
                    <a:moveTo>
                      <a:pt x="701" y="1"/>
                    </a:moveTo>
                    <a:cubicBezTo>
                      <a:pt x="301" y="1"/>
                      <a:pt x="1" y="334"/>
                      <a:pt x="1" y="701"/>
                    </a:cubicBezTo>
                    <a:lnTo>
                      <a:pt x="1" y="2436"/>
                    </a:lnTo>
                    <a:cubicBezTo>
                      <a:pt x="1" y="2869"/>
                      <a:pt x="334" y="3169"/>
                      <a:pt x="701" y="3169"/>
                    </a:cubicBezTo>
                    <a:lnTo>
                      <a:pt x="2469" y="3169"/>
                    </a:lnTo>
                    <a:cubicBezTo>
                      <a:pt x="2870" y="3169"/>
                      <a:pt x="3170" y="2836"/>
                      <a:pt x="3170" y="2436"/>
                    </a:cubicBezTo>
                    <a:lnTo>
                      <a:pt x="3170" y="701"/>
                    </a:lnTo>
                    <a:cubicBezTo>
                      <a:pt x="3170" y="267"/>
                      <a:pt x="2836" y="1"/>
                      <a:pt x="24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1095931" y="2922255"/>
                <a:ext cx="1063783" cy="21816"/>
              </a:xfrm>
              <a:custGeom>
                <a:avLst/>
                <a:gdLst/>
                <a:ahLst/>
                <a:cxnLst/>
                <a:rect l="l" t="t" r="r" b="b"/>
                <a:pathLst>
                  <a:path w="11410" h="234" extrusionOk="0">
                    <a:moveTo>
                      <a:pt x="134" y="0"/>
                    </a:moveTo>
                    <a:cubicBezTo>
                      <a:pt x="68" y="0"/>
                      <a:pt x="1" y="34"/>
                      <a:pt x="1" y="100"/>
                    </a:cubicBezTo>
                    <a:cubicBezTo>
                      <a:pt x="1" y="200"/>
                      <a:pt x="68" y="234"/>
                      <a:pt x="134" y="234"/>
                    </a:cubicBezTo>
                    <a:lnTo>
                      <a:pt x="11276" y="234"/>
                    </a:lnTo>
                    <a:cubicBezTo>
                      <a:pt x="11342" y="234"/>
                      <a:pt x="11409" y="200"/>
                      <a:pt x="11409" y="100"/>
                    </a:cubicBezTo>
                    <a:cubicBezTo>
                      <a:pt x="11409" y="34"/>
                      <a:pt x="11309" y="0"/>
                      <a:pt x="11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1095931" y="3003088"/>
                <a:ext cx="684327" cy="21910"/>
              </a:xfrm>
              <a:custGeom>
                <a:avLst/>
                <a:gdLst/>
                <a:ahLst/>
                <a:cxnLst/>
                <a:rect l="l" t="t" r="r" b="b"/>
                <a:pathLst>
                  <a:path w="7340" h="235" extrusionOk="0">
                    <a:moveTo>
                      <a:pt x="134" y="1"/>
                    </a:moveTo>
                    <a:cubicBezTo>
                      <a:pt x="68" y="1"/>
                      <a:pt x="1" y="34"/>
                      <a:pt x="1" y="134"/>
                    </a:cubicBezTo>
                    <a:cubicBezTo>
                      <a:pt x="1" y="201"/>
                      <a:pt x="68" y="234"/>
                      <a:pt x="134" y="234"/>
                    </a:cubicBezTo>
                    <a:lnTo>
                      <a:pt x="7239" y="234"/>
                    </a:lnTo>
                    <a:cubicBezTo>
                      <a:pt x="7306" y="234"/>
                      <a:pt x="7339" y="201"/>
                      <a:pt x="7339" y="134"/>
                    </a:cubicBezTo>
                    <a:cubicBezTo>
                      <a:pt x="7339" y="67"/>
                      <a:pt x="7273" y="1"/>
                      <a:pt x="7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" name="Google Shape;94;p15"/>
            <p:cNvGrpSpPr/>
            <p:nvPr/>
          </p:nvGrpSpPr>
          <p:grpSpPr>
            <a:xfrm>
              <a:off x="1892128" y="3177685"/>
              <a:ext cx="361833" cy="86930"/>
              <a:chOff x="2513203" y="3027163"/>
              <a:chExt cx="361833" cy="86930"/>
            </a:xfrm>
          </p:grpSpPr>
          <p:sp>
            <p:nvSpPr>
              <p:cNvPr id="95" name="Google Shape;95;p15"/>
              <p:cNvSpPr/>
              <p:nvPr/>
            </p:nvSpPr>
            <p:spPr>
              <a:xfrm>
                <a:off x="2513203" y="3027163"/>
                <a:ext cx="88213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36" extrusionOk="0">
                    <a:moveTo>
                      <a:pt x="1134" y="1"/>
                    </a:moveTo>
                    <a:cubicBezTo>
                      <a:pt x="500" y="1"/>
                      <a:pt x="0" y="501"/>
                      <a:pt x="0" y="1101"/>
                    </a:cubicBezTo>
                    <a:cubicBezTo>
                      <a:pt x="0" y="1735"/>
                      <a:pt x="500" y="2236"/>
                      <a:pt x="1134" y="2236"/>
                    </a:cubicBezTo>
                    <a:cubicBezTo>
                      <a:pt x="1768" y="2236"/>
                      <a:pt x="2268" y="1735"/>
                      <a:pt x="2268" y="1101"/>
                    </a:cubicBezTo>
                    <a:cubicBezTo>
                      <a:pt x="2268" y="501"/>
                      <a:pt x="1768" y="1"/>
                      <a:pt x="1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650635" y="3027163"/>
                <a:ext cx="88252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2236" extrusionOk="0">
                    <a:moveTo>
                      <a:pt x="1135" y="1"/>
                    </a:moveTo>
                    <a:cubicBezTo>
                      <a:pt x="501" y="1"/>
                      <a:pt x="1" y="501"/>
                      <a:pt x="1" y="1101"/>
                    </a:cubicBezTo>
                    <a:cubicBezTo>
                      <a:pt x="1" y="1735"/>
                      <a:pt x="501" y="2236"/>
                      <a:pt x="1135" y="2236"/>
                    </a:cubicBezTo>
                    <a:cubicBezTo>
                      <a:pt x="1769" y="2236"/>
                      <a:pt x="2269" y="1735"/>
                      <a:pt x="2269" y="1101"/>
                    </a:cubicBezTo>
                    <a:cubicBezTo>
                      <a:pt x="2269" y="501"/>
                      <a:pt x="1736" y="1"/>
                      <a:pt x="11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786822" y="3027163"/>
                <a:ext cx="88213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36" extrusionOk="0">
                    <a:moveTo>
                      <a:pt x="1135" y="1"/>
                    </a:moveTo>
                    <a:cubicBezTo>
                      <a:pt x="501" y="1"/>
                      <a:pt x="0" y="501"/>
                      <a:pt x="0" y="1101"/>
                    </a:cubicBezTo>
                    <a:cubicBezTo>
                      <a:pt x="0" y="1735"/>
                      <a:pt x="501" y="2236"/>
                      <a:pt x="1135" y="2236"/>
                    </a:cubicBezTo>
                    <a:cubicBezTo>
                      <a:pt x="1768" y="2236"/>
                      <a:pt x="2269" y="1735"/>
                      <a:pt x="2269" y="1101"/>
                    </a:cubicBezTo>
                    <a:cubicBezTo>
                      <a:pt x="2269" y="501"/>
                      <a:pt x="1768" y="1"/>
                      <a:pt x="11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/>
              <a:t>whoami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9EAA999-41CC-CC05-2BDE-2AE76C735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552830" cy="4318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364220AB-371A-5C35-00E5-40845B5AF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713" y="771574"/>
            <a:ext cx="2661804" cy="2661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9393528-059C-3EA6-501B-BEA10DF7B178}"/>
              </a:ext>
            </a:extLst>
          </p:cNvPr>
          <p:cNvSpPr txBox="1"/>
          <p:nvPr/>
        </p:nvSpPr>
        <p:spPr>
          <a:xfrm>
            <a:off x="720000" y="1106284"/>
            <a:ext cx="402705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-Daniel Monzón Peso (aka stark0de)</a:t>
            </a:r>
          </a:p>
          <a:p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-Operador de Red Team en Siemens</a:t>
            </a:r>
          </a:p>
          <a:p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-Con algunas certificaciones</a:t>
            </a:r>
          </a:p>
          <a:p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-Con ganas de conocer cómo funciona y cómo se puede abusar de todo tipo de tecnología (actualmente, sobre todo de Windows)</a:t>
            </a:r>
          </a:p>
          <a:p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-@stark0de1 en Twitter</a:t>
            </a:r>
          </a:p>
        </p:txBody>
      </p:sp>
      <p:pic>
        <p:nvPicPr>
          <p:cNvPr id="6" name="Picture 4" descr="Pepe Hack Hack Sticker - Pepe Hack Hack Pepo Stickers">
            <a:extLst>
              <a:ext uri="{FF2B5EF4-FFF2-40B4-BE49-F238E27FC236}">
                <a16:creationId xmlns:a16="http://schemas.microsoft.com/office/drawing/2014/main" id="{9DC50DE7-9FBC-3BE8-B433-5A45503FC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2872889"/>
            <a:ext cx="2008909" cy="200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726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Conceptos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494A5C5-56EE-7829-9A13-582276AA621D}"/>
              </a:ext>
            </a:extLst>
          </p:cNvPr>
          <p:cNvSpPr txBox="1"/>
          <p:nvPr/>
        </p:nvSpPr>
        <p:spPr>
          <a:xfrm>
            <a:off x="720000" y="1203403"/>
            <a:ext cx="4326921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WAF: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detección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de DDOS, payloads de vulns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típicas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, CVEs y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pueden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hacer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las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veces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de reverse proxy/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balanceador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de carga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también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.</a:t>
            </a: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Quantico"/>
              <a:ea typeface="Source Code Pro"/>
            </a:endParaRPr>
          </a:p>
          <a:p>
            <a:endParaRPr lang="en-US" dirty="0">
              <a:solidFill>
                <a:schemeClr val="tx1"/>
              </a:solidFill>
              <a:latin typeface="Quantic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</p:txBody>
      </p:sp>
      <p:pic>
        <p:nvPicPr>
          <p:cNvPr id="1026" name="Picture 2" descr="What is WAF (Web Application Firewall) ?">
            <a:extLst>
              <a:ext uri="{FF2B5EF4-FFF2-40B4-BE49-F238E27FC236}">
                <a16:creationId xmlns:a16="http://schemas.microsoft.com/office/drawing/2014/main" id="{7A49AF49-2465-15CC-515D-EEB940BF3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07" y="2144533"/>
            <a:ext cx="4099112" cy="245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AC18B4B-90A0-0193-6052-4B47A9E17AAE}"/>
              </a:ext>
            </a:extLst>
          </p:cNvPr>
          <p:cNvSpPr txBox="1"/>
          <p:nvPr/>
        </p:nvSpPr>
        <p:spPr>
          <a:xfrm>
            <a:off x="5181839" y="1046587"/>
            <a:ext cx="3465975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¿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Cómo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te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cazan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?</a:t>
            </a:r>
          </a:p>
          <a:p>
            <a:pPr algn="just"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 1)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Listas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blancas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(payloads, User-Agents, IPs,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firmas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JA3)</a:t>
            </a:r>
          </a:p>
          <a:p>
            <a:pPr algn="just"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 2)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Listas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negras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(lo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mismo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+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medidas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anti-scraping,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detección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de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navegadores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headless)</a:t>
            </a:r>
          </a:p>
          <a:p>
            <a:pPr algn="just"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 3)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Aprendizaje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automático</a:t>
            </a: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  <a:p>
            <a:pPr algn="just">
              <a:buClr>
                <a:schemeClr val="tx1"/>
              </a:buClr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 </a:t>
            </a: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Quantico"/>
              <a:ea typeface="Source Code Pro"/>
            </a:endParaRPr>
          </a:p>
          <a:p>
            <a:endParaRPr lang="en-US" dirty="0">
              <a:solidFill>
                <a:schemeClr val="tx1"/>
              </a:solidFill>
              <a:latin typeface="Quantic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9164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Conceptos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494A5C5-56EE-7829-9A13-582276AA621D}"/>
              </a:ext>
            </a:extLst>
          </p:cNvPr>
          <p:cNvSpPr txBox="1"/>
          <p:nvPr/>
        </p:nvSpPr>
        <p:spPr>
          <a:xfrm>
            <a:off x="539891" y="1391327"/>
            <a:ext cx="7156832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RASP: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funciona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a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nivel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de software</a:t>
            </a: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Son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menos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comunes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que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los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WAF</a:t>
            </a: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También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hay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cosas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parecidas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del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lado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del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cliente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ej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: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DOMPurify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)</a:t>
            </a: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Quantico"/>
              <a:ea typeface="Source Code Pro"/>
            </a:endParaRPr>
          </a:p>
          <a:p>
            <a:endParaRPr lang="en-US" dirty="0">
              <a:solidFill>
                <a:schemeClr val="tx1"/>
              </a:solidFill>
              <a:latin typeface="Quantic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</p:txBody>
      </p:sp>
      <p:pic>
        <p:nvPicPr>
          <p:cNvPr id="2050" name="Picture 2" descr="WordPress plugin zero-day affects 200K sites">
            <a:extLst>
              <a:ext uri="{FF2B5EF4-FFF2-40B4-BE49-F238E27FC236}">
                <a16:creationId xmlns:a16="http://schemas.microsoft.com/office/drawing/2014/main" id="{7814D7CA-BCB6-FC9F-5520-9A2A78FA9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2340966"/>
            <a:ext cx="380047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23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Conceptos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494A5C5-56EE-7829-9A13-582276AA621D}"/>
              </a:ext>
            </a:extLst>
          </p:cNvPr>
          <p:cNvSpPr txBox="1"/>
          <p:nvPr/>
        </p:nvSpPr>
        <p:spPr>
          <a:xfrm>
            <a:off x="539891" y="1391327"/>
            <a:ext cx="715683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Firewalls: no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necesariamente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operan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en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la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capa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de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aplicación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Quantico"/>
              <a:ea typeface="Source Code Pro"/>
            </a:endParaRPr>
          </a:p>
          <a:p>
            <a:endParaRPr lang="en-US" dirty="0">
              <a:solidFill>
                <a:schemeClr val="tx1"/>
              </a:solidFill>
              <a:latin typeface="Quantic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</p:txBody>
      </p:sp>
      <p:pic>
        <p:nvPicPr>
          <p:cNvPr id="3074" name="Picture 2" descr="WAF versus firewall: comparación y diferencias">
            <a:extLst>
              <a:ext uri="{FF2B5EF4-FFF2-40B4-BE49-F238E27FC236}">
                <a16:creationId xmlns:a16="http://schemas.microsoft.com/office/drawing/2014/main" id="{312C9B72-C169-79C0-F717-6B7440E78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27" y="1872695"/>
            <a:ext cx="6012873" cy="239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F408CD8-7F6D-00AF-C391-1ADA0200A838}"/>
              </a:ext>
            </a:extLst>
          </p:cNvPr>
          <p:cNvSpPr txBox="1"/>
          <p:nvPr/>
        </p:nvSpPr>
        <p:spPr>
          <a:xfrm>
            <a:off x="650726" y="4342390"/>
            <a:ext cx="81733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tx1"/>
                </a:solidFill>
                <a:latin typeface="Abadi Extra Light" panose="020B0204020104020204" pitchFamily="34" charset="0"/>
              </a:rPr>
              <a:t>https://es.radware.com/cyberpedia/application-security/waf-vs-firewall-comparison-and-differences/</a:t>
            </a:r>
          </a:p>
        </p:txBody>
      </p:sp>
      <p:pic>
        <p:nvPicPr>
          <p:cNvPr id="3076" name="Picture 4" descr="Qué es el Modelo OSI? Fundamentos - Platzi">
            <a:extLst>
              <a:ext uri="{FF2B5EF4-FFF2-40B4-BE49-F238E27FC236}">
                <a16:creationId xmlns:a16="http://schemas.microsoft.com/office/drawing/2014/main" id="{1E3E6246-9833-D9E3-6803-589D80E65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048" y="74303"/>
            <a:ext cx="3930216" cy="279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166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Marcas comunes de WAFs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pic>
        <p:nvPicPr>
          <p:cNvPr id="6146" name="Picture 2" descr="Best Web Application Firewall (WAF) Reviews">
            <a:extLst>
              <a:ext uri="{FF2B5EF4-FFF2-40B4-BE49-F238E27FC236}">
                <a16:creationId xmlns:a16="http://schemas.microsoft.com/office/drawing/2014/main" id="{17C11DE5-6B5D-763D-0624-E9D52DD43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836" y="1536100"/>
            <a:ext cx="4253345" cy="252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EE7CD28-FED6-3EC0-6352-4AE65F193025}"/>
              </a:ext>
            </a:extLst>
          </p:cNvPr>
          <p:cNvSpPr txBox="1"/>
          <p:nvPr/>
        </p:nvSpPr>
        <p:spPr>
          <a:xfrm>
            <a:off x="6109854" y="1536100"/>
            <a:ext cx="268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¿Cuál es el mejor WAF?</a:t>
            </a:r>
          </a:p>
          <a:p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-Igual que con los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EDRs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etc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, es imposible asegurarlo</a:t>
            </a:r>
          </a:p>
          <a:p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https://www.openappsec.io/post/best-waf-solutions-in-2023-real-world-comparison</a:t>
            </a:r>
          </a:p>
        </p:txBody>
      </p:sp>
    </p:spTree>
    <p:extLst>
      <p:ext uri="{BB962C8B-B14F-4D97-AF65-F5344CB8AC3E}">
        <p14:creationId xmlns:p14="http://schemas.microsoft.com/office/powerpoint/2010/main" val="1980413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Detección de WAFs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15" y="4604000"/>
            <a:ext cx="8692314" cy="4318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472253D-A4BB-713B-C977-266186DEA889}"/>
              </a:ext>
            </a:extLst>
          </p:cNvPr>
          <p:cNvSpPr txBox="1"/>
          <p:nvPr/>
        </p:nvSpPr>
        <p:spPr>
          <a:xfrm>
            <a:off x="818708" y="2345517"/>
            <a:ext cx="7156832" cy="2739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Tools of the trade:</a:t>
            </a:r>
          </a:p>
          <a:p>
            <a:pPr marL="342900" indent="-342900" algn="just">
              <a:buClr>
                <a:schemeClr val="tx1"/>
              </a:buClr>
              <a:buAutoNum type="arabicParenR"/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Wafw00f</a:t>
            </a:r>
          </a:p>
          <a:p>
            <a:pPr marL="342900" indent="-342900" algn="just">
              <a:buClr>
                <a:schemeClr val="tx1"/>
              </a:buClr>
              <a:buAutoNum type="arabicParenR"/>
            </a:pP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Wafalyzer</a:t>
            </a: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  <a:p>
            <a:pPr marL="342900" indent="-342900" algn="just">
              <a:buClr>
                <a:schemeClr val="tx1"/>
              </a:buClr>
              <a:buAutoNum type="arabicParenR"/>
            </a:pP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Identywaf</a:t>
            </a: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  <a:p>
            <a:pPr marL="342900" indent="-342900" algn="just">
              <a:buClr>
                <a:schemeClr val="tx1"/>
              </a:buClr>
              <a:buAutoNum type="arabicParenR"/>
            </a:pP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Whatwaf</a:t>
            </a: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  <a:p>
            <a:pPr marL="342900" indent="-342900" algn="just">
              <a:buClr>
                <a:schemeClr val="tx1"/>
              </a:buClr>
              <a:buAutoNum type="arabicParenR"/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Tus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ojos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viendo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un 403/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página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de error</a:t>
            </a: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Quantico"/>
              <a:ea typeface="Source Code Pro"/>
            </a:endParaRPr>
          </a:p>
          <a:p>
            <a:endParaRPr lang="en-US" dirty="0">
              <a:solidFill>
                <a:schemeClr val="tx1"/>
              </a:solidFill>
              <a:latin typeface="Quantic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  <a:p>
            <a:endParaRPr lang="en-US" sz="1200" dirty="0">
              <a:latin typeface="Source Code Pro"/>
              <a:ea typeface="Source Code Pro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CAEB7FF-37CA-53AF-BAF1-FFCA41B57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014" y="1229089"/>
            <a:ext cx="2694025" cy="2565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FE3F42-4483-CC58-DB37-340BEDB4A54D}"/>
              </a:ext>
            </a:extLst>
          </p:cNvPr>
          <p:cNvSpPr txBox="1"/>
          <p:nvPr/>
        </p:nvSpPr>
        <p:spPr>
          <a:xfrm>
            <a:off x="818708" y="1459393"/>
            <a:ext cx="62306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Cookies</a:t>
            </a: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Cabeceras de la </a:t>
            </a: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respuesta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(custom o Server)</a:t>
            </a: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Páginas</a:t>
            </a:r>
            <a:r>
              <a:rPr lang="en-US" b="1" dirty="0">
                <a:solidFill>
                  <a:schemeClr val="tx1"/>
                </a:solidFill>
                <a:latin typeface="Abadi Extra Light" panose="020B0204020104020204" pitchFamily="34" charset="0"/>
                <a:ea typeface="Source Code Pro" panose="020B0509030403020204" pitchFamily="49" charset="0"/>
              </a:rPr>
              <a:t> de error</a:t>
            </a:r>
          </a:p>
          <a:p>
            <a:pPr marL="171450" indent="-17145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Abadi Extra Light" panose="020B0204020104020204" pitchFamily="34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337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Sacando la IP real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DB1C4A9-E837-9EE7-008C-B47275404518}"/>
              </a:ext>
            </a:extLst>
          </p:cNvPr>
          <p:cNvSpPr txBox="1"/>
          <p:nvPr/>
        </p:nvSpPr>
        <p:spPr>
          <a:xfrm>
            <a:off x="6906491" y="1274618"/>
            <a:ext cx="1638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Hay que revisar el </a:t>
            </a:r>
            <a:r>
              <a:rPr lang="es-ES" dirty="0" err="1">
                <a:solidFill>
                  <a:schemeClr val="tx1"/>
                </a:solidFill>
              </a:rPr>
              <a:t>cherry</a:t>
            </a:r>
            <a:r>
              <a:rPr lang="es-ES" dirty="0">
                <a:solidFill>
                  <a:schemeClr val="tx1"/>
                </a:solidFill>
              </a:rPr>
              <a:t> de OSINT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EC13EE7-44CB-1A46-458E-02873E2D2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65" y="1322443"/>
            <a:ext cx="5646164" cy="228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08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Buscando bypasses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1903EDD-FD6A-7202-C8A1-D41A9E9B5970}"/>
              </a:ext>
            </a:extLst>
          </p:cNvPr>
          <p:cNvSpPr txBox="1"/>
          <p:nvPr/>
        </p:nvSpPr>
        <p:spPr>
          <a:xfrm>
            <a:off x="900545" y="1290449"/>
            <a:ext cx="752345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1"/>
              </a:buClr>
              <a:buFont typeface="+mj-lt"/>
              <a:buAutoNum type="arabicParenR"/>
            </a:pP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-¿Qué hay que tener en cuenta?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arenR"/>
            </a:pPr>
            <a:endParaRPr lang="es-ES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pPr marL="342900" indent="-342900">
              <a:buClr>
                <a:schemeClr val="tx1"/>
              </a:buClr>
              <a:buFont typeface="+mj-lt"/>
              <a:buAutoNum type="arabicParenR"/>
            </a:pP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El t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ipo de fallo a explotar, ¿es genérico o específico? 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(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SQLi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vs un CVE por ejemplo)</a:t>
            </a:r>
            <a:endParaRPr lang="es-ES" sz="1400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pPr marL="342900" indent="-342900">
              <a:buClr>
                <a:schemeClr val="tx1"/>
              </a:buClr>
              <a:buFont typeface="+mj-lt"/>
              <a:buAutoNum type="arabicParenR"/>
            </a:pP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WAF a saltarse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arenR"/>
            </a:pP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Tecnologías involucradas (server </a:t>
            </a:r>
            <a:r>
              <a:rPr lang="es-ES" sz="1400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side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y </a:t>
            </a:r>
            <a:r>
              <a:rPr lang="es-ES" sz="1400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client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-side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, por ejemplo: ..;/..;/ en Tomcat,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Jquery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, Linux -&gt;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path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name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expansion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con ??, Windows-&gt; </a:t>
            </a:r>
            <a:r>
              <a:rPr lang="de-DE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t^yp^e C:\wINDOWS\win.ini </a:t>
            </a:r>
            <a:r>
              <a:rPr lang="de-DE" b="1" dirty="0">
                <a:solidFill>
                  <a:schemeClr val="tx1"/>
                </a:solidFill>
                <a:latin typeface="Abadi Extra Light" panose="020F0502020204030204" pitchFamily="34" charset="0"/>
                <a:hlinkClick r:id="rId4"/>
              </a:rPr>
              <a:t>https://www.ired.team/offensive-security/defense-evasion/commandline-obfusaction</a:t>
            </a:r>
            <a:r>
              <a:rPr lang="de-DE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)</a:t>
            </a:r>
            <a:endParaRPr lang="es-ES" sz="1400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pPr marL="342900" indent="-342900">
              <a:buClr>
                <a:schemeClr val="tx1"/>
              </a:buClr>
              <a:buFont typeface="+mj-lt"/>
              <a:buAutoNum type="arabicParenR"/>
            </a:pP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No reinventar la rueda si no hace falta (BUSCAR WEB DE BYPASSES CONOCIDOS)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arenR"/>
            </a:pP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Hay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vulns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que no admiten ningún cambio, hay que tener esto en cuenta antes de darse de cabezazos contra la pared (esto pasa con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vulns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específicas más habitualmente, pero también con algunos tipos de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vulns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genéricas)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arenR"/>
            </a:pP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¿Existen </a:t>
            </a:r>
            <a:r>
              <a:rPr lang="es-ES" sz="1400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bypasses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generales? </a:t>
            </a:r>
          </a:p>
        </p:txBody>
      </p:sp>
    </p:spTree>
    <p:extLst>
      <p:ext uri="{BB962C8B-B14F-4D97-AF65-F5344CB8AC3E}">
        <p14:creationId xmlns:p14="http://schemas.microsoft.com/office/powerpoint/2010/main" val="9890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509525" y="280882"/>
            <a:ext cx="8313164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Buscando bypasses generales (1/3)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1903EDD-FD6A-7202-C8A1-D41A9E9B5970}"/>
              </a:ext>
            </a:extLst>
          </p:cNvPr>
          <p:cNvSpPr txBox="1"/>
          <p:nvPr/>
        </p:nvSpPr>
        <p:spPr>
          <a:xfrm>
            <a:off x="935181" y="1084891"/>
            <a:ext cx="723900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Truquitos:</a:t>
            </a:r>
          </a:p>
          <a:p>
            <a:endParaRPr lang="es-ES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1)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SecLists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lista de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User-Agents</a:t>
            </a:r>
            <a:endParaRPr lang="es-ES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2) JARM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spoofing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(si te escanean), JA3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spoofing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(si inspeccionan cómo te comunicas con ellos). Ver: 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  <a:hlinkClick r:id="rId4"/>
              </a:rPr>
              <a:t>https://scrapfly.io/web-scraping-tools/ja3-fingerprint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</a:t>
            </a:r>
            <a:endParaRPr lang="es-ES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3) ¿El server está en un CDN/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cloud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? Probar desde una de sus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IPs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. PENDIENTE DE TERMINAR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4) TLS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passthrough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(ver mi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tool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)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5) Cabeceras concretas (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ej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: X-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Forwarded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-IP) (ver mi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tool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). URL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rewriting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: X-Original-URL. Alteraciones del URI: /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admin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-&gt; /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Admin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, /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admin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/, /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admin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//., //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admin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,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etc</a:t>
            </a:r>
            <a:endParaRPr lang="es-ES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6) Tools de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bypasses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de 403: 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  <a:hlinkClick r:id="rId5"/>
              </a:rPr>
              <a:t>https://github.com/lobuhi/byp4xx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 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  <a:hlinkClick r:id="rId6"/>
              </a:rPr>
              <a:t>https://github.com/devploit/nomore403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7) Cosas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whitelisteadas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raras: 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  <a:hlinkClick r:id="rId7"/>
              </a:rPr>
              <a:t>https://osandamalith.com/2019/10/12/bypassing-the-webarx-web-application-firewall-waf/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  <a:hlinkClick r:id="rId8"/>
              </a:rPr>
              <a:t>https://soroush.me/blog/2019/05/x-up-devcap-post-charset-header-in-aspnet-to-bypass-wafs-again/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</a:p>
          <a:p>
            <a:endParaRPr lang="es-ES" b="1" u="sng" dirty="0">
              <a:solidFill>
                <a:schemeClr val="tx1"/>
              </a:solidFill>
              <a:latin typeface="Abadi Extra Light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19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509525" y="280882"/>
            <a:ext cx="8313164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Buscando bypasses generales (2/3)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1903EDD-FD6A-7202-C8A1-D41A9E9B5970}"/>
              </a:ext>
            </a:extLst>
          </p:cNvPr>
          <p:cNvSpPr txBox="1"/>
          <p:nvPr/>
        </p:nvSpPr>
        <p:spPr>
          <a:xfrm>
            <a:off x="900544" y="946346"/>
            <a:ext cx="71905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Más truquitos:</a:t>
            </a:r>
          </a:p>
          <a:p>
            <a:endParaRPr lang="es-ES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8)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Vulns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del propio WAF (y/o luego deshabilitarlo de alguna forma,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ej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: Fortinet) 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  <a:hlinkClick r:id="rId4"/>
              </a:rPr>
              <a:t>https://www.hoyahaxa.com/2024/03/imperva-waf-bypass-cve-2023-50969.html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9)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Websockets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  <a:hlinkClick r:id="rId5"/>
              </a:rPr>
              <a:t>https://community.sophos.com/sophos-xg-firewall/f/discussions/132910/pass-a-websocket-connection-through-waf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  <a:hlinkClick r:id="rId6"/>
              </a:rPr>
              <a:t>https://docs.fastly.com/en/ngwaf/agent-config#agentcfg_revproxy-listener_inspect-websocket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10) Métodos HTTP que no se inspeccionan pero que ejecutan el mismo código. (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ej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: OPTIONS)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11)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Encodings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para los que puede no haber soporte (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gzip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,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brotli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). (el fallo de antes de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Imperva</a:t>
            </a:r>
            <a:endParaRPr lang="es-ES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435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509525" y="280882"/>
            <a:ext cx="8313164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Buscando bypasses generales (3/3)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1903EDD-FD6A-7202-C8A1-D41A9E9B5970}"/>
              </a:ext>
            </a:extLst>
          </p:cNvPr>
          <p:cNvSpPr txBox="1"/>
          <p:nvPr/>
        </p:nvSpPr>
        <p:spPr>
          <a:xfrm>
            <a:off x="852053" y="974055"/>
            <a:ext cx="719051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Más truquitos:</a:t>
            </a:r>
          </a:p>
          <a:p>
            <a:endParaRPr lang="es-ES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12)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Vulns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de la propia web que no estén capadas (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information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disclosure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, SSRF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etc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).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Info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disclosure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en otros sitios (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ej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: manuales de conexión indexados por Google)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12) Acceso a rutas que están prohibidas -&gt; contenido cacheado (Archive, Google caché,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etc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)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13)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Proxies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corporativos con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IPs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whitelisteadas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(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ej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: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Squid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)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14)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Parameter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pollution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y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parameter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fragmentation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: 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  <a:hlinkClick r:id="rId4"/>
              </a:rPr>
              <a:t>https://www.notsoshant.io/blog/bypassing-waf-by-playing-with-parameters/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15) Limitaciones de 8KB en algunos WAF en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cloud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(AWS WAF, Google Cloud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Armour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). E incluso con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ModSecurity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-&gt;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SecRequestBodyLimitAction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ProcessPartial</a:t>
            </a:r>
            <a:endParaRPr lang="es-ES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16)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WAFs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antiguos que no soportan HTTP/2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17) Intentar tirar contra la versión en HTTP si se puede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18)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Request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smuggling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y H2C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smuggling</a:t>
            </a:r>
            <a:endParaRPr lang="es-ES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901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509525" y="280882"/>
            <a:ext cx="8313164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Más visualmente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587507"/>
            <a:ext cx="8692314" cy="4318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820D654-DDCD-ACEA-C9CD-98A8E2938EA2}"/>
              </a:ext>
            </a:extLst>
          </p:cNvPr>
          <p:cNvSpPr/>
          <p:nvPr/>
        </p:nvSpPr>
        <p:spPr>
          <a:xfrm>
            <a:off x="509153" y="1641877"/>
            <a:ext cx="4433455" cy="259772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C8153A46-0D6E-5796-46BB-C8087E10F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26" y="1971920"/>
            <a:ext cx="4218708" cy="234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How to Manually Test WebSocket APIs | by Andrey Enin | Medium">
            <a:extLst>
              <a:ext uri="{FF2B5EF4-FFF2-40B4-BE49-F238E27FC236}">
                <a16:creationId xmlns:a16="http://schemas.microsoft.com/office/drawing/2014/main" id="{6339E3AD-CB37-B0CC-C312-4B4F81FA3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139" y="482051"/>
            <a:ext cx="2688334" cy="199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707E69F-C53D-7803-A80B-FDC71B5209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1303" y="2603563"/>
            <a:ext cx="3237680" cy="205788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836128F-7EF5-6DB8-C80E-1F50A7B54927}"/>
              </a:ext>
            </a:extLst>
          </p:cNvPr>
          <p:cNvSpPr txBox="1"/>
          <p:nvPr/>
        </p:nvSpPr>
        <p:spPr>
          <a:xfrm>
            <a:off x="921327" y="4604000"/>
            <a:ext cx="3255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Ejem,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WebTransport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, ejem</a:t>
            </a:r>
          </a:p>
        </p:txBody>
      </p:sp>
    </p:spTree>
    <p:extLst>
      <p:ext uri="{BB962C8B-B14F-4D97-AF65-F5344CB8AC3E}">
        <p14:creationId xmlns:p14="http://schemas.microsoft.com/office/powerpoint/2010/main" val="3262115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509525" y="280882"/>
            <a:ext cx="8313164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Más visualmente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587507"/>
            <a:ext cx="8692314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01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602236" y="297045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Fuzzing 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1903EDD-FD6A-7202-C8A1-D41A9E9B5970}"/>
              </a:ext>
            </a:extLst>
          </p:cNvPr>
          <p:cNvSpPr txBox="1"/>
          <p:nvPr/>
        </p:nvSpPr>
        <p:spPr>
          <a:xfrm>
            <a:off x="505692" y="984984"/>
            <a:ext cx="4572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-Aunque no haya </a:t>
            </a:r>
            <a:r>
              <a:rPr lang="es-ES" sz="1400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bypasses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generales, aun así, tenemos que poder hacer fuzzing</a:t>
            </a:r>
          </a:p>
          <a:p>
            <a:endParaRPr lang="es-ES" sz="1400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¿Cómo hacemos para que no nos bloqueen?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 </a:t>
            </a:r>
          </a:p>
          <a:p>
            <a:endParaRPr lang="es-ES" sz="1400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1) Menos hilos</a:t>
            </a:r>
          </a:p>
          <a:p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2) </a:t>
            </a:r>
            <a:r>
              <a:rPr lang="es-ES" sz="1400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User-Agent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aleatorio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3)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Delays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fijos o aleatorios dentro de un rango aceptable</a:t>
            </a:r>
          </a:p>
          <a:p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4) Rotación de </a:t>
            </a:r>
            <a:r>
              <a:rPr lang="es-ES" sz="1400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IPs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  <a:hlinkClick r:id="rId4"/>
              </a:rPr>
              <a:t>https://github.com/search?q=ip%20rotation&amp;type=repositories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con </a:t>
            </a:r>
            <a:r>
              <a:rPr lang="es-ES" sz="1400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tools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o </a:t>
            </a:r>
            <a:r>
              <a:rPr lang="es-ES" sz="1400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custom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(</a:t>
            </a:r>
            <a:r>
              <a:rPr lang="es-ES" sz="1400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ej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: proxy </a:t>
            </a:r>
            <a:r>
              <a:rPr lang="es-ES" sz="1400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list</a:t>
            </a:r>
            <a:r>
              <a:rPr lang="es-ES" sz="1400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)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5) Limpiar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payloads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(hay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wordlists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que vienen con cosas que hacen pitar todo)</a:t>
            </a:r>
          </a:p>
          <a:p>
            <a:endParaRPr lang="es-ES" sz="1400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-Si no sacamos ningún resultado o todos son errores, es recomendable </a:t>
            </a:r>
            <a:r>
              <a:rPr lang="es-ES" b="1" dirty="0" err="1">
                <a:solidFill>
                  <a:schemeClr val="tx1"/>
                </a:solidFill>
                <a:latin typeface="Abadi Extra Light" panose="020F0502020204030204" pitchFamily="34" charset="0"/>
              </a:rPr>
              <a:t>proxificar</a:t>
            </a:r>
            <a:r>
              <a:rPr lang="es-ES" b="1" dirty="0">
                <a:solidFill>
                  <a:schemeClr val="tx1"/>
                </a:solidFill>
                <a:latin typeface="Abadi Extra Light" panose="020F0502020204030204" pitchFamily="34" charset="0"/>
              </a:rPr>
              <a:t> e intentar averiguar qué está haciendo saltar el WAF. </a:t>
            </a:r>
            <a:endParaRPr lang="es-ES" sz="1400" b="1" dirty="0">
              <a:solidFill>
                <a:schemeClr val="tx1"/>
              </a:solidFill>
              <a:latin typeface="Abadi Extra Light" panose="020F050202020403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4C38D02-70D8-CF95-B39A-595130D8F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236" y="1691436"/>
            <a:ext cx="3627501" cy="176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172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602236" y="297045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Unicode, ASCII, UTFs y demás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1C5F728-FF23-0C96-E89E-19D96D564872}"/>
              </a:ext>
            </a:extLst>
          </p:cNvPr>
          <p:cNvSpPr txBox="1"/>
          <p:nvPr/>
        </p:nvSpPr>
        <p:spPr>
          <a:xfrm>
            <a:off x="852055" y="1087582"/>
            <a:ext cx="71489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-Unicode: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code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points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(U+0000algo)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-Unicode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Transformation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Format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, UTF-8 -&gt; Unicode representado en 8 bits. Hay de 8, 16 y 32, tanto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big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endian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como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little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endian</a:t>
            </a:r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-Windows: UTF-16LE. Para los que conozcáis la API de Windows, las funciones que acaban en A (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CreateFileA</a:t>
            </a:r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-ASCII -&gt; 7 bits para representar caracteres. Son 128. </a:t>
            </a:r>
            <a:r>
              <a:rPr lang="es-ES" b="1" u="sng" dirty="0">
                <a:solidFill>
                  <a:schemeClr val="tx1"/>
                </a:solidFill>
                <a:latin typeface="Abadi Extra Light" panose="020B0204020104020204" pitchFamily="34" charset="0"/>
              </a:rPr>
              <a:t>ASCII está incluido en Unicode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pic>
        <p:nvPicPr>
          <p:cNvPr id="1026" name="Picture 2" descr="Little and Big Endian Mystery - GeeksforGeeks">
            <a:extLst>
              <a:ext uri="{FF2B5EF4-FFF2-40B4-BE49-F238E27FC236}">
                <a16:creationId xmlns:a16="http://schemas.microsoft.com/office/drawing/2014/main" id="{1A33E8B0-0B3C-E8A3-671C-C5C4B89D5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5" y="2699000"/>
            <a:ext cx="381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5898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Buscando bypasses para XSS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C548000-BFDA-A46C-9976-109FACD6A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61" y="1333673"/>
            <a:ext cx="4391839" cy="213143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CFDBB9F-AC88-07C0-CE87-59DA24953EC7}"/>
              </a:ext>
            </a:extLst>
          </p:cNvPr>
          <p:cNvSpPr txBox="1"/>
          <p:nvPr/>
        </p:nvSpPr>
        <p:spPr>
          <a:xfrm>
            <a:off x="5957455" y="1333673"/>
            <a:ext cx="20089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Tenemos un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payload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, ¿en qué lo podemos cambiar?</a:t>
            </a:r>
          </a:p>
          <a:p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pPr marL="342900" indent="-342900">
              <a:buClr>
                <a:schemeClr val="tx1"/>
              </a:buClr>
              <a:buAutoNum type="arabicParenR"/>
            </a:pP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Tag</a:t>
            </a:r>
          </a:p>
          <a:p>
            <a:pPr marL="342900" indent="-342900">
              <a:buClr>
                <a:schemeClr val="tx1"/>
              </a:buClr>
              <a:buAutoNum type="arabicParenR"/>
            </a:pP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Event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handler</a:t>
            </a:r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pPr marL="342900" indent="-342900">
              <a:buClr>
                <a:schemeClr val="tx1"/>
              </a:buClr>
              <a:buAutoNum type="arabicParenR"/>
            </a:pP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Payload</a:t>
            </a:r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pPr marL="342900" indent="-342900">
              <a:buClr>
                <a:schemeClr val="tx1"/>
              </a:buClr>
              <a:buAutoNum type="arabicParenR"/>
            </a:pP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Encoding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(URL, Unicode</a:t>
            </a:r>
          </a:p>
          <a:p>
            <a:pPr marL="342900" indent="-342900">
              <a:buClr>
                <a:schemeClr val="tx1"/>
              </a:buClr>
              <a:buAutoNum type="arabicParenR"/>
            </a:pP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Ofuscación</a:t>
            </a:r>
          </a:p>
        </p:txBody>
      </p:sp>
    </p:spTree>
    <p:extLst>
      <p:ext uri="{BB962C8B-B14F-4D97-AF65-F5344CB8AC3E}">
        <p14:creationId xmlns:p14="http://schemas.microsoft.com/office/powerpoint/2010/main" val="719695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Buscando bypasses para SQLi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4E10DAC-8860-46ED-2D19-8A019AAC425A}"/>
              </a:ext>
            </a:extLst>
          </p:cNvPr>
          <p:cNvSpPr txBox="1"/>
          <p:nvPr/>
        </p:nvSpPr>
        <p:spPr>
          <a:xfrm>
            <a:off x="1191491" y="1536100"/>
            <a:ext cx="4599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</a:t>
            </a:r>
            <a:r>
              <a:rPr lang="es-ES" dirty="0" err="1"/>
              <a:t>Tampers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2749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Buscando bypasses para XXE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95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Buscando bypasses de un CVE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8F78ED5-E588-CE7A-6C4F-35527A492950}"/>
              </a:ext>
            </a:extLst>
          </p:cNvPr>
          <p:cNvSpPr txBox="1"/>
          <p:nvPr/>
        </p:nvSpPr>
        <p:spPr>
          <a:xfrm>
            <a:off x="1073727" y="1482436"/>
            <a:ext cx="63661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-Comprueba que es vulnerable a ese CVE ANTES de ponerte a buscar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bypasses</a:t>
            </a:r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-Para esto, como regla general son interesantes aquellos tipos de fallos en los que el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payload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no tenga por qué ser el que viene en el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exploit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/PoC (y para saber esto toca leer y entender el fallo)</a:t>
            </a:r>
          </a:p>
          <a:p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-File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upload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detections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: es muy común por ejemplo que se hagan reglas débiles contra fallos que acaban de salir y que solo tienen una PoC. Se pueden cambiar extensiones, el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filename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, el contenido de la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webshell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/reverse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shell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, 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etc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9149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&lt;/ </a:t>
            </a:r>
            <a:r>
              <a:rPr lang="en" dirty="0">
                <a:solidFill>
                  <a:srgbClr val="FFFFFF"/>
                </a:solidFill>
              </a:rPr>
              <a:t>Conclusiones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90533-5186-58FD-C9B2-ABDE1AB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0" y="4604000"/>
            <a:ext cx="8692314" cy="4318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8F78ED5-E588-CE7A-6C4F-35527A492950}"/>
              </a:ext>
            </a:extLst>
          </p:cNvPr>
          <p:cNvSpPr txBox="1"/>
          <p:nvPr/>
        </p:nvSpPr>
        <p:spPr>
          <a:xfrm>
            <a:off x="1066800" y="1172509"/>
            <a:ext cx="63661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-No te desesperes si te bloquean, intenta aislar el motivo del bloqueo</a:t>
            </a:r>
          </a:p>
          <a:p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-Paciencia con los fallos OOB/</a:t>
            </a:r>
            <a:r>
              <a:rPr lang="es-ES" b="1" dirty="0" err="1">
                <a:solidFill>
                  <a:schemeClr val="tx1"/>
                </a:solidFill>
                <a:latin typeface="Abadi Extra Light" panose="020B0204020104020204" pitchFamily="34" charset="0"/>
              </a:rPr>
              <a:t>blind</a:t>
            </a:r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. WAF + OOB = dolor de cabeza</a:t>
            </a:r>
          </a:p>
          <a:p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-Apúntate lo que te ha funcionado en el pasado (esto ahorra mucho tiempo, en serio)</a:t>
            </a:r>
          </a:p>
          <a:p>
            <a:r>
              <a:rPr lang="es-ES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-Gracias por aguantar la chapa</a:t>
            </a:r>
          </a:p>
          <a:p>
            <a:endParaRPr lang="es-ES" b="1" dirty="0">
              <a:solidFill>
                <a:schemeClr val="tx1"/>
              </a:solidFill>
              <a:latin typeface="Abadi Extra Light" panose="020B0204020104020204" pitchFamily="34" charset="0"/>
            </a:endParaRPr>
          </a:p>
        </p:txBody>
      </p:sp>
      <p:pic>
        <p:nvPicPr>
          <p:cNvPr id="7170" name="Picture 2" descr="Keanu Reeves Thank You GIF - Keanu Reeves Thank You GIFs">
            <a:extLst>
              <a:ext uri="{FF2B5EF4-FFF2-40B4-BE49-F238E27FC236}">
                <a16:creationId xmlns:a16="http://schemas.microsoft.com/office/drawing/2014/main" id="{042CEBB7-AAD7-F2FD-A376-97EDF857A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745" y="2689763"/>
            <a:ext cx="4260273" cy="213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391811"/>
      </p:ext>
    </p:extLst>
  </p:cSld>
  <p:clrMapOvr>
    <a:masterClrMapping/>
  </p:clrMapOvr>
</p:sld>
</file>

<file path=ppt/theme/theme1.xml><?xml version="1.0" encoding="utf-8"?>
<a:theme xmlns:a="http://schemas.openxmlformats.org/drawingml/2006/main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2135</TotalTime>
  <Words>1273</Words>
  <Application>Microsoft Office PowerPoint</Application>
  <PresentationFormat>Presentación en pantalla (16:9)</PresentationFormat>
  <Paragraphs>156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Abadi Extra Light</vt:lpstr>
      <vt:lpstr>Quantico</vt:lpstr>
      <vt:lpstr>Arial</vt:lpstr>
      <vt:lpstr>Source Code Pro</vt:lpstr>
      <vt:lpstr>Nunito Light</vt:lpstr>
      <vt:lpstr>New Operating System Design Pitch Deck  Infographics by Slidesgo</vt:lpstr>
      <vt:lpstr>  WAF bypass: técnicas, tácticas y truquitos</vt:lpstr>
      <vt:lpstr>&lt;/ whoami</vt:lpstr>
      <vt:lpstr>&lt;/ Conceptos</vt:lpstr>
      <vt:lpstr>&lt;/ Conceptos</vt:lpstr>
      <vt:lpstr>&lt;/ Conceptos</vt:lpstr>
      <vt:lpstr>&lt;/ Marcas comunes de WAFs</vt:lpstr>
      <vt:lpstr>&lt;/ Detección de WAFs</vt:lpstr>
      <vt:lpstr>&lt;/ Sacando la IP real</vt:lpstr>
      <vt:lpstr>&lt;/ Buscando bypasses</vt:lpstr>
      <vt:lpstr>&lt;/ Buscando bypasses generales (1/3)</vt:lpstr>
      <vt:lpstr>&lt;/ Buscando bypasses generales (2/3)</vt:lpstr>
      <vt:lpstr>&lt;/ Buscando bypasses generales (3/3)</vt:lpstr>
      <vt:lpstr>&lt;/ Más visualmente</vt:lpstr>
      <vt:lpstr>&lt;/ Más visualmente</vt:lpstr>
      <vt:lpstr>&lt;/ Fuzzing </vt:lpstr>
      <vt:lpstr>&lt;/ Unicode, ASCII, UTFs y demás</vt:lpstr>
      <vt:lpstr>&lt;/ Buscando bypasses para XSS</vt:lpstr>
      <vt:lpstr>&lt;/ Buscando bypasses para SQLi</vt:lpstr>
      <vt:lpstr>&lt;/ Buscando bypasses para XXE</vt:lpstr>
      <vt:lpstr>&lt;/ Buscando bypasses de un CVE</vt:lpstr>
      <vt:lpstr>&lt;/ 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Operating System Design Pitch Deck Infographics</dc:title>
  <dc:creator>Daniel</dc:creator>
  <cp:lastModifiedBy>Daniel Monzon Peso</cp:lastModifiedBy>
  <cp:revision>34</cp:revision>
  <dcterms:modified xsi:type="dcterms:W3CDTF">2024-05-20T20:59:34Z</dcterms:modified>
</cp:coreProperties>
</file>